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Farm Assist Advanced Search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07482" y="3224275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 err="1">
                <a:solidFill>
                  <a:srgbClr val="0070C0"/>
                </a:solidFill>
              </a:rPr>
              <a:t>Nimma</a:t>
            </a:r>
            <a:r>
              <a:rPr lang="en-US" dirty="0">
                <a:solidFill>
                  <a:srgbClr val="0070C0"/>
                </a:solidFill>
              </a:rPr>
              <a:t> Lokesh Reddy  2520030366</a:t>
            </a:r>
          </a:p>
          <a:p>
            <a:r>
              <a:rPr lang="en-US" dirty="0" err="1">
                <a:solidFill>
                  <a:srgbClr val="0070C0"/>
                </a:solidFill>
              </a:rPr>
              <a:t>Ramagiri</a:t>
            </a:r>
            <a:r>
              <a:rPr lang="en-US" dirty="0">
                <a:solidFill>
                  <a:srgbClr val="0070C0"/>
                </a:solidFill>
              </a:rPr>
              <a:t> Rishik Rao 2520030333</a:t>
            </a:r>
          </a:p>
          <a:p>
            <a:r>
              <a:rPr lang="en-US" dirty="0">
                <a:solidFill>
                  <a:srgbClr val="0070C0"/>
                </a:solidFill>
              </a:rPr>
              <a:t>Yashwanth Manoj 2520030369</a:t>
            </a: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Name of the DSA-3 faculty name with designation and department 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06C8DC-AA46-522C-AA1A-5C12D8EAD016}"/>
              </a:ext>
            </a:extLst>
          </p:cNvPr>
          <p:cNvSpPr txBox="1"/>
          <p:nvPr/>
        </p:nvSpPr>
        <p:spPr>
          <a:xfrm>
            <a:off x="843029" y="1138854"/>
            <a:ext cx="10044046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need quick, reliable answers about crop diseases; expert advice is not always reachable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farmer's question is not a database query — it is a sentence, with the disease and symptom buried inside it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many keywords in one sentence, and matching them against many records, is a 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string-matching problem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pattern-matching algorithms solve it exactly, quickly, and without any training data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built in core Java — no libraries, no build tool, no 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String.contains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1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working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three-algorithm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build; the full system extends it further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A0C0AE-8F60-24C8-CA18-9E635A3CDB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919374"/>
              </p:ext>
            </p:extLst>
          </p:nvPr>
        </p:nvGraphicFramePr>
        <p:xfrm>
          <a:off x="712234" y="1143949"/>
          <a:ext cx="11090988" cy="3688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2747">
                  <a:extLst>
                    <a:ext uri="{9D8B030D-6E8A-4147-A177-3AD203B41FA5}">
                      <a16:colId xmlns:a16="http://schemas.microsoft.com/office/drawing/2014/main" val="1959964710"/>
                    </a:ext>
                  </a:extLst>
                </a:gridCol>
                <a:gridCol w="2772747">
                  <a:extLst>
                    <a:ext uri="{9D8B030D-6E8A-4147-A177-3AD203B41FA5}">
                      <a16:colId xmlns:a16="http://schemas.microsoft.com/office/drawing/2014/main" val="983109658"/>
                    </a:ext>
                  </a:extLst>
                </a:gridCol>
                <a:gridCol w="2772747">
                  <a:extLst>
                    <a:ext uri="{9D8B030D-6E8A-4147-A177-3AD203B41FA5}">
                      <a16:colId xmlns:a16="http://schemas.microsoft.com/office/drawing/2014/main" val="294040973"/>
                    </a:ext>
                  </a:extLst>
                </a:gridCol>
                <a:gridCol w="2772747">
                  <a:extLst>
                    <a:ext uri="{9D8B030D-6E8A-4147-A177-3AD203B41FA5}">
                      <a16:colId xmlns:a16="http://schemas.microsoft.com/office/drawing/2014/main" val="19574117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IN" sz="1800" b="0" i="0">
                        <a:solidFill>
                          <a:srgbClr val="BFBF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IN" sz="1800" b="0" i="0">
                        <a:solidFill>
                          <a:srgbClr val="BFBF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800" b="0" i="0">
                        <a:solidFill>
                          <a:srgbClr val="BFBF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 to our work</a:t>
                      </a:r>
                      <a:endParaRPr lang="en-IN" sz="1800" b="0" i="0">
                        <a:solidFill>
                          <a:srgbClr val="BFBF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" marR="15240" marT="15240" marB="15240" anchor="ctr"/>
                </a:tc>
                <a:extLst>
                  <a:ext uri="{0D108BD9-81ED-4DB2-BD59-A6C34878D82A}">
                    <a16:rowId xmlns:a16="http://schemas.microsoft.com/office/drawing/2014/main" val="3551966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Pattern Matching in Strings, SIAM J. Computing</a:t>
                      </a:r>
                      <a:endParaRPr lang="en-IN" sz="1800" b="0" i="0">
                        <a:solidFill>
                          <a:srgbClr val="BFBF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Knuth, Morris, Pratt</a:t>
                      </a:r>
                      <a:endParaRPr lang="en-IN" sz="1800" b="0" i="0">
                        <a:solidFill>
                          <a:srgbClr val="BFBF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1977</a:t>
                      </a:r>
                      <a:endParaRPr lang="en-IN" sz="1800" b="0" i="0" dirty="0">
                        <a:solidFill>
                          <a:srgbClr val="BFBF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Linear-time exact search using the LPS/failure table — used to match symptoms to disease records</a:t>
                      </a:r>
                      <a:endParaRPr lang="en-IN" sz="1800" b="0" i="0" dirty="0">
                        <a:solidFill>
                          <a:srgbClr val="BFBF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" marR="15240" marT="15240" marB="15240" anchor="ctr"/>
                </a:tc>
                <a:extLst>
                  <a:ext uri="{0D108BD9-81ED-4DB2-BD59-A6C34878D82A}">
                    <a16:rowId xmlns:a16="http://schemas.microsoft.com/office/drawing/2014/main" val="2760296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String Matching: An Aid to Bibliographic Search, CACM</a:t>
                      </a:r>
                      <a:endParaRPr lang="en-IN" sz="1800" b="0" i="0">
                        <a:solidFill>
                          <a:srgbClr val="BFBF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Aho, Corasick</a:t>
                      </a:r>
                      <a:endParaRPr lang="en-IN" sz="1800" b="0" i="0">
                        <a:solidFill>
                          <a:srgbClr val="BFBF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1975</a:t>
                      </a:r>
                      <a:endParaRPr lang="en-IN" sz="1800" b="0" i="0">
                        <a:solidFill>
                          <a:srgbClr val="BFBF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Trie with failure links; finds all patterns in one pass — used to extract crops/symptoms from the question</a:t>
                      </a:r>
                      <a:endParaRPr lang="en-IN" sz="1800" b="0" i="0" dirty="0">
                        <a:solidFill>
                          <a:srgbClr val="BFBF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" marR="15240" marT="15240" marB="15240" anchor="ctr"/>
                </a:tc>
                <a:extLst>
                  <a:ext uri="{0D108BD9-81ED-4DB2-BD59-A6C34878D82A}">
                    <a16:rowId xmlns:a16="http://schemas.microsoft.com/office/drawing/2014/main" val="3125522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Randomized Pattern-Matching Algorithms, IBM J. R&amp;D</a:t>
                      </a:r>
                      <a:endParaRPr lang="en-IN" sz="1800" b="0" i="0">
                        <a:solidFill>
                          <a:srgbClr val="BFBF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Karp, Rabin</a:t>
                      </a:r>
                      <a:endParaRPr lang="en-IN" sz="1800" b="0" i="0">
                        <a:solidFill>
                          <a:srgbClr val="BFBF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1987</a:t>
                      </a:r>
                      <a:endParaRPr lang="en-IN" sz="1800" b="0" i="0">
                        <a:solidFill>
                          <a:srgbClr val="BFBF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Rolling-hash matching in expected linear time — used to score article relevance</a:t>
                      </a:r>
                      <a:endParaRPr lang="en-IN" sz="1800" b="0" i="0" dirty="0">
                        <a:solidFill>
                          <a:srgbClr val="BFBF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" marR="15240" marT="15240" marB="15240" anchor="ctr"/>
                </a:tc>
                <a:extLst>
                  <a:ext uri="{0D108BD9-81ED-4DB2-BD59-A6C34878D82A}">
                    <a16:rowId xmlns:a16="http://schemas.microsoft.com/office/drawing/2014/main" val="3952419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55DBEA7-3801-BADC-2B5A-AD9F1D4C8524}"/>
              </a:ext>
            </a:extLst>
          </p:cNvPr>
          <p:cNvSpPr txBox="1"/>
          <p:nvPr/>
        </p:nvSpPr>
        <p:spPr>
          <a:xfrm>
            <a:off x="712234" y="5252386"/>
            <a:ext cx="110909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Findings: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naïve search costs O(</a:t>
            </a:r>
            <a:r>
              <a:rPr lang="en-IN" sz="1800" b="0" i="0" dirty="0" err="1">
                <a:solidFill>
                  <a:schemeClr val="tx1"/>
                </a:solidFill>
                <a:effectLst/>
                <a:latin typeface="+mn-lt"/>
              </a:rPr>
              <a:t>n×m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) per pattern and repeats work for every keyword. KMP removes the backtracking, Aho–</a:t>
            </a:r>
            <a:r>
              <a:rPr lang="en-IN" sz="1800" b="0" i="0" dirty="0" err="1">
                <a:solidFill>
                  <a:schemeClr val="tx1"/>
                </a:solidFill>
                <a:effectLst/>
                <a:latin typeface="+mn-lt"/>
              </a:rPr>
              <a:t>Corasick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removes the per-pattern repetition, and Rabin–Karp makes repeated scanning cheap through hashing.</a:t>
            </a:r>
            <a:endParaRPr lang="en-IN" sz="1800" b="0" i="0" dirty="0">
              <a:solidFill>
                <a:srgbClr val="BFBFBF"/>
              </a:solidFill>
              <a:effectLst/>
              <a:latin typeface="-apple-syste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C64EE2-4FF8-80A1-71C9-9876D496D8B3}"/>
              </a:ext>
            </a:extLst>
          </p:cNvPr>
          <p:cNvSpPr txBox="1"/>
          <p:nvPr/>
        </p:nvSpPr>
        <p:spPr>
          <a:xfrm>
            <a:off x="429209" y="877469"/>
            <a:ext cx="1139267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Farming advice is hard to reach offline, and a general search engine cannot rank agricultural records it does not hold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farmer's sentence mixes crop names, symptoms and disease names in no fixed order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Scanning every keyword against every record separately is too slow and repeats work</a:t>
            </a:r>
          </a:p>
          <a:p>
            <a:pPr algn="just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every crop, symptom and disease named in a question in a 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pass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the reported symptoms 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exactly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against stored disease records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the articles by how often the search terms actually occur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all three algorithms from first principles, no built-in search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the algorithm usage visible on screen while it runs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C1E3B6-DF36-7148-112C-BE18E0DFF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877" y="1054360"/>
            <a:ext cx="8304245" cy="52251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30D4B2-BD75-51A3-1415-D2046287E350}"/>
              </a:ext>
            </a:extLst>
          </p:cNvPr>
          <p:cNvSpPr txBox="1"/>
          <p:nvPr/>
        </p:nvSpPr>
        <p:spPr>
          <a:xfrm>
            <a:off x="72491" y="1028343"/>
            <a:ext cx="700011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console application —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articles, 8 disease records, 30 keyword patterns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 my tomato has brown spots and yellowing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Aho–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Corasick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 crops=[tomato] symptoms=[brown spots, yellowing] in one pass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KMP → 16 exact symptom searches over 8 records →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Blight ranked first (score 8)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Rabin–Karp → 36 scans over 12 articles → 4 matched, top article returned with snippet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Word-boundary rule verified: "rice" is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matched inside "price", "spot" not inside "spots"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cross-checked against Java's 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String.indexOf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over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4,000 randomised test cases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100% agreement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cases passed: empty pattern, pattern longer than text, overlapping matches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 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LPS of 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ababaca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 [0,0,1,2,3,0,1]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71CEF6-31DC-83AB-58BE-047D3092F57F}"/>
              </a:ext>
            </a:extLst>
          </p:cNvPr>
          <p:cNvSpPr txBox="1"/>
          <p:nvPr/>
        </p:nvSpPr>
        <p:spPr>
          <a:xfrm>
            <a:off x="2492167" y="1352940"/>
            <a:ext cx="7394973" cy="5093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any dual-core, 1 GHz or above</a:t>
            </a:r>
          </a:p>
          <a:p>
            <a:pPr lvl="0"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2 GB minimum (4 GB recommended)</a:t>
            </a:r>
          </a:p>
          <a:p>
            <a:pPr lvl="0"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Disk: under 5 MB for source, data and compiled classes</a:t>
            </a:r>
          </a:p>
          <a:p>
            <a:pPr lvl="0"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 standard terminal / command prompt</a:t>
            </a:r>
          </a:p>
          <a:p>
            <a:pPr lvl="0" algn="just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internet connection required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OS: Windows 10/11 (also runs on Linux and macOS)</a:t>
            </a:r>
          </a:p>
          <a:p>
            <a:pPr lvl="0"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JDK 21 or above — developed and tested on 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JDK 25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text editor or IDE (VS Code / IntelliJ / Notepad++)</a:t>
            </a:r>
          </a:p>
          <a:p>
            <a:pPr lvl="0" algn="just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external libraries, no frameworks, no build tool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as plain .txt files, pipe-separated</a:t>
            </a:r>
          </a:p>
          <a:p>
            <a:pPr algn="just"/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BF1A19-09EC-1752-8F25-79B98537E889}"/>
              </a:ext>
            </a:extLst>
          </p:cNvPr>
          <p:cNvSpPr txBox="1"/>
          <p:nvPr/>
        </p:nvSpPr>
        <p:spPr>
          <a:xfrm>
            <a:off x="798728" y="1266869"/>
            <a:ext cx="10286039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farming question in plain English is answered correctly using only classical string algorithms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Aho–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Corasick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makes keyword extraction independent of the number of patterns — one pass, always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KMP gives exact symptom matching with no backtracking over the text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Rabin–Karp makes relevance scoring cheap through rolling hashes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runs fully offline, in core Java, with no library doing the searching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that classical DSA solves a real problem without any AI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90E9D7-4168-FA79-F93F-49CC6E5189E2}"/>
              </a:ext>
            </a:extLst>
          </p:cNvPr>
          <p:cNvSpPr txBox="1"/>
          <p:nvPr/>
        </p:nvSpPr>
        <p:spPr>
          <a:xfrm>
            <a:off x="709125" y="1459230"/>
            <a:ext cx="9254457" cy="3939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just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Distance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repair spelling ("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tomatoe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→ "tomato")</a:t>
            </a:r>
          </a:p>
          <a:p>
            <a:pPr lvl="0" algn="just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Array + LCP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related articles by longest common substring</a:t>
            </a:r>
          </a:p>
          <a:p>
            <a:pPr lvl="0" algn="just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0/1 Knapsack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best fertilizer basket within a budget</a:t>
            </a:r>
          </a:p>
          <a:p>
            <a:pPr lvl="0" algn="just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Bipartite Matching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one distinct fertilizer per crop</a:t>
            </a:r>
          </a:p>
          <a:p>
            <a:pPr lvl="0" algn="just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Randomized </a:t>
            </a:r>
            <a:r>
              <a:rPr lang="en-IN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QuickSort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replace the insertion sort used for ranking</a:t>
            </a:r>
          </a:p>
          <a:p>
            <a:pPr lvl="0"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the knowledge base beyond 12 articles and 8 diseases</a:t>
            </a:r>
          </a:p>
          <a:p>
            <a:pPr lvl="0"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language support (Hindi/Telugu crop names)</a:t>
            </a:r>
          </a:p>
          <a:p>
            <a:pPr lvl="0"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as a single runnable JAR, and later a mobile or web front end</a:t>
            </a:r>
          </a:p>
          <a:p>
            <a:pPr algn="just"/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861</Words>
  <Application>Microsoft Office PowerPoint</Application>
  <PresentationFormat>Widescreen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-apple-system</vt:lpstr>
      <vt:lpstr>Arial</vt:lpstr>
      <vt:lpstr>Calibri</vt:lpstr>
      <vt:lpstr>Times New Roman</vt:lpstr>
      <vt:lpstr>Office Theme</vt:lpstr>
      <vt:lpstr>       Data Structures and Algorithms -3 (25CS2103E)  Farm Assist Advanced Search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NIMMA LOKESHREDDY</cp:lastModifiedBy>
  <cp:revision>20</cp:revision>
  <dcterms:created xsi:type="dcterms:W3CDTF">2024-08-29T05:25:00Z</dcterms:created>
  <dcterms:modified xsi:type="dcterms:W3CDTF">2026-08-26T18:03:50Z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